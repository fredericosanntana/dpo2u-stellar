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955279" y="731520"/>
            <a:ext cx="3383280" cy="5394960"/>
          </a:xfrm>
          <a:prstGeom prst="roundRect">
            <a:avLst/>
          </a:prstGeom>
          <a:solidFill>
            <a:srgbClr val="247BA0"/>
          </a:solidFill>
          <a:ln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0" y="1051560"/>
            <a:ext cx="2834640" cy="914400"/>
          </a:xfrm>
          <a:prstGeom prst="roundRect">
            <a:avLst/>
          </a:prstGeom>
          <a:solidFill>
            <a:srgbClr val="6DCBB0"/>
          </a:solidFill>
          <a:ln>
            <a:solidFill>
              <a:srgbClr val="6D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0" y="2240280"/>
            <a:ext cx="2834640" cy="914400"/>
          </a:xfrm>
          <a:prstGeom prst="roundRect">
            <a:avLst/>
          </a:prstGeom>
          <a:solidFill>
            <a:srgbClr val="1B4B84"/>
          </a:solidFill>
          <a:ln>
            <a:solidFill>
              <a:srgbClr val="1B4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0" y="3429000"/>
            <a:ext cx="2834640" cy="914400"/>
          </a:xfrm>
          <a:prstGeom prst="roundRect">
            <a:avLst/>
          </a:prstGeom>
          <a:solidFill>
            <a:srgbClr val="1B4B84"/>
          </a:solidFill>
          <a:ln>
            <a:solidFill>
              <a:srgbClr val="1B4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94192" y="1298448"/>
            <a:ext cx="24688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Aptos"/>
              </a:rPr>
              <a:t>Registry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2487168"/>
            <a:ext cx="24688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Admission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3675887"/>
            <a:ext cx="24688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Blocked lane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"/>
            <a:ext cx="731520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Pulso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234440"/>
            <a:ext cx="68580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D2DCEB"/>
                </a:solidFill>
                <a:latin typeface="Aptos"/>
              </a:rPr>
              <a:t>Compliance como consequência operacional verificável em Stellar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65960"/>
            <a:ext cx="5852160" cy="1645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ptos"/>
              </a:rPr>
              <a:t>A DPO2U transforma decisões canônicas de compliance em admissão, revogação e bloqueio verificáveis on-chain.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4251960"/>
            <a:ext cx="41148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BECDDC"/>
                </a:solidFill>
                <a:latin typeface="Aptos"/>
              </a:rPr>
              <a:t>Pulso hackathon • ZK track • GTM institucional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5720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Aptos Display"/>
              </a:rPr>
              <a:t>A tese em uma frase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972800" cy="1097280"/>
          </a:xfrm>
          <a:prstGeom prst="roundRect">
            <a:avLst/>
          </a:prstGeom>
          <a:solidFill>
            <a:srgbClr val="ECF2F8"/>
          </a:solidFill>
          <a:ln>
            <a:solidFill>
              <a:srgbClr val="EC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98448"/>
            <a:ext cx="1033272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100" b="1">
                <a:solidFill>
                  <a:srgbClr val="0D1B2A"/>
                </a:solidFill>
                <a:latin typeface="Aptos"/>
              </a:rPr>
              <a:t>Registry-backed admission + revocation consequence + blocked-lane enforcement na lane própria B-first.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3063240" cy="2377440"/>
          </a:xfrm>
          <a:prstGeom prst="roundRect">
            <a:avLst/>
          </a:prstGeom>
          <a:solidFill>
            <a:srgbClr val="F5F5F0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7" y="2743200"/>
            <a:ext cx="411480" cy="411480"/>
          </a:xfrm>
          <a:prstGeom prst="ellipse">
            <a:avLst/>
          </a:prstGeom>
          <a:solidFill>
            <a:srgbClr val="247BA0"/>
          </a:solidFill>
          <a:ln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20116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B4B84"/>
                </a:solidFill>
                <a:latin typeface="Aptos"/>
              </a:rPr>
              <a:t>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46120"/>
            <a:ext cx="2606040" cy="1280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212529"/>
                </a:solidFill>
                <a:latin typeface="Aptos"/>
              </a:rPr>
              <a:t>Compliance tradicional para no parecer e não muda comportamento operacional.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2560320"/>
            <a:ext cx="3063240" cy="2377440"/>
          </a:xfrm>
          <a:prstGeom prst="roundRect">
            <a:avLst/>
          </a:prstGeom>
          <a:solidFill>
            <a:srgbClr val="F5F5F0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70248" y="2743200"/>
            <a:ext cx="411480" cy="411480"/>
          </a:xfrm>
          <a:prstGeom prst="ellipse">
            <a:avLst/>
          </a:prstGeom>
          <a:solidFill>
            <a:srgbClr val="247BA0"/>
          </a:solidFill>
          <a:ln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743200"/>
            <a:ext cx="20116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B4B84"/>
                </a:solidFill>
                <a:latin typeface="Aptos"/>
              </a:rPr>
              <a:t>Tese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3246120"/>
            <a:ext cx="2606040" cy="1280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212529"/>
                </a:solidFill>
                <a:latin typeface="Aptos"/>
              </a:rPr>
              <a:t>A decisão canônica precisa mover a infraestrutura, não só a documentação.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560320"/>
            <a:ext cx="3063240" cy="2377440"/>
          </a:xfrm>
          <a:prstGeom prst="roundRect">
            <a:avLst/>
          </a:prstGeom>
          <a:solidFill>
            <a:srgbClr val="F5F5F0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99248" y="2743200"/>
            <a:ext cx="411480" cy="411480"/>
          </a:xfrm>
          <a:prstGeom prst="ellipse">
            <a:avLst/>
          </a:prstGeom>
          <a:solidFill>
            <a:srgbClr val="247BA0"/>
          </a:solidFill>
          <a:ln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43200"/>
            <a:ext cx="20116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B4B84"/>
                </a:solidFill>
                <a:latin typeface="Aptos"/>
              </a:rPr>
              <a:t>Demonstração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3246120"/>
            <a:ext cx="2606040" cy="1280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212529"/>
                </a:solidFill>
                <a:latin typeface="Aptos"/>
              </a:rPr>
              <a:t>Pulso prova isso em Stellar com lane replayável, verificável e soberana.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25603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A757F"/>
                </a:solidFill>
                <a:latin typeface="Aptos"/>
              </a:rPr>
              <a:t>DPO2U • Pulso • junho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6692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Aptos Display"/>
              </a:rPr>
              <a:t>O que já está provado no repo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280160"/>
            <a:ext cx="384048" cy="384048"/>
          </a:xfrm>
          <a:prstGeom prst="ellipse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261872"/>
            <a:ext cx="27432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B4B84"/>
                </a:solidFill>
                <a:latin typeface="Aptos"/>
              </a:rPr>
              <a:t>Registry vivo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81912"/>
            <a:ext cx="46634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50" b="0">
                <a:solidFill>
                  <a:srgbClr val="212529"/>
                </a:solidFill>
                <a:latin typeface="Aptos"/>
              </a:rPr>
              <a:t>Contract ativo em testnet com register, verify e revoke reais.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234439"/>
            <a:ext cx="4754880" cy="822960"/>
          </a:xfrm>
          <a:prstGeom prst="roundRect">
            <a:avLst/>
          </a:prstGeom>
          <a:solidFill>
            <a:srgbClr val="247BA0"/>
          </a:solidFill>
          <a:ln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453895"/>
            <a:ext cx="42976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CAUD…WTYP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50591"/>
            <a:ext cx="384048" cy="384048"/>
          </a:xfrm>
          <a:prstGeom prst="ellipse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3"/>
            <a:ext cx="27432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B4B84"/>
                </a:solidFill>
                <a:latin typeface="Aptos"/>
              </a:rPr>
              <a:t>Admissão na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752344"/>
            <a:ext cx="46634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50" b="0">
                <a:solidFill>
                  <a:srgbClr val="212529"/>
                </a:solidFill>
                <a:latin typeface="Aptos"/>
              </a:rPr>
              <a:t>Decisão do registry já vira artefato operacional de admissão ASP/SPP.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404872"/>
            <a:ext cx="4754880" cy="822960"/>
          </a:xfrm>
          <a:prstGeom prst="roundRect">
            <a:avLst/>
          </a:prstGeom>
          <a:solidFill>
            <a:srgbClr val="1B4B84"/>
          </a:solidFill>
          <a:ln>
            <a:solidFill>
              <a:srgbClr val="1B4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2624327"/>
            <a:ext cx="42976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decision → admission → record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621024"/>
            <a:ext cx="384048" cy="384048"/>
          </a:xfrm>
          <a:prstGeom prst="ellipse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602736"/>
            <a:ext cx="27432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B4B84"/>
                </a:solidFill>
                <a:latin typeface="Aptos"/>
              </a:rPr>
              <a:t>Blocked-lane 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922776"/>
            <a:ext cx="46634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50" b="0">
                <a:solidFill>
                  <a:srgbClr val="212529"/>
                </a:solidFill>
                <a:latin typeface="Aptos"/>
              </a:rPr>
              <a:t>Instância própria do asp-non-membership já bloqueia e reverte on-chain.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575304"/>
            <a:ext cx="4754880" cy="822960"/>
          </a:xfrm>
          <a:prstGeom prst="roundRect">
            <a:avLst/>
          </a:prstGeom>
          <a:solidFill>
            <a:srgbClr val="6DCBB0"/>
          </a:solidFill>
          <a:ln>
            <a:solidFill>
              <a:srgbClr val="6D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3794760"/>
            <a:ext cx="42976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insert / delete / verify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791456"/>
            <a:ext cx="384048" cy="384048"/>
          </a:xfrm>
          <a:prstGeom prst="ellipse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773168"/>
            <a:ext cx="27432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B4B84"/>
                </a:solidFill>
                <a:latin typeface="Aptos"/>
              </a:rPr>
              <a:t>Worker idempotente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093208"/>
            <a:ext cx="46634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50" b="0">
                <a:solidFill>
                  <a:srgbClr val="212529"/>
                </a:solidFill>
                <a:latin typeface="Aptos"/>
              </a:rPr>
              <a:t>No-op quando ativo, bloqueio quando revogado, rerun sem duplicação.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745736"/>
            <a:ext cx="4754880" cy="822960"/>
          </a:xfrm>
          <a:prstGeom prst="roundRect">
            <a:avLst/>
          </a:prstGeom>
          <a:solidFill>
            <a:srgbClr val="B43848"/>
          </a:solidFill>
          <a:ln>
            <a:solidFill>
              <a:srgbClr val="B4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4965192"/>
            <a:ext cx="42976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no-op / block / rerun-safe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25603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A757F"/>
                </a:solidFill>
                <a:latin typeface="Aptos"/>
              </a:rPr>
              <a:t>DPO2U • Pulso • junho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9436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A cadeia operacional do Pulso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0574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81328" y="2011680"/>
            <a:ext cx="502920" cy="502920"/>
          </a:xfrm>
          <a:prstGeom prst="ellipse">
            <a:avLst/>
          </a:prstGeom>
          <a:solidFill>
            <a:srgbClr val="6DCBB0"/>
          </a:solidFill>
          <a:ln>
            <a:solidFill>
              <a:srgbClr val="6D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697480"/>
            <a:ext cx="1737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0D1B2A"/>
                </a:solidFill>
                <a:latin typeface="Aptos"/>
              </a:rPr>
              <a:t>Registry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18688"/>
            <a:ext cx="169164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0">
                <a:solidFill>
                  <a:srgbClr val="212529"/>
                </a:solidFill>
                <a:latin typeface="Aptos"/>
              </a:rPr>
              <a:t>A attestation nasce como verdade canônica.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16352" y="2834640"/>
            <a:ext cx="4114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828800"/>
            <a:ext cx="2057400" cy="2651760"/>
          </a:xfrm>
          <a:prstGeom prst="roundRect">
            <a:avLst/>
          </a:prstGeom>
          <a:solidFill>
            <a:srgbClr val="EC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950208" y="2011680"/>
            <a:ext cx="502920" cy="502920"/>
          </a:xfrm>
          <a:prstGeom prst="ellipse">
            <a:avLst/>
          </a:prstGeom>
          <a:solidFill>
            <a:srgbClr val="247BA0"/>
          </a:solidFill>
          <a:ln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2697480"/>
            <a:ext cx="1737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0D1B2A"/>
                </a:solidFill>
                <a:latin typeface="Aptos"/>
              </a:rPr>
              <a:t>Admission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218688"/>
            <a:ext cx="169164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0">
                <a:solidFill>
                  <a:srgbClr val="212529"/>
                </a:solidFill>
                <a:latin typeface="Aptos"/>
              </a:rPr>
              <a:t>A decisão vira admissão operacional na lane.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1" y="2834640"/>
            <a:ext cx="4114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1828800"/>
            <a:ext cx="20574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19088" y="2011680"/>
            <a:ext cx="502920" cy="502920"/>
          </a:xfrm>
          <a:prstGeom prst="ellipse">
            <a:avLst/>
          </a:prstGeom>
          <a:solidFill>
            <a:srgbClr val="DB8E44"/>
          </a:solidFill>
          <a:ln>
            <a:solidFill>
              <a:srgbClr val="DB8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3872" y="2697480"/>
            <a:ext cx="1737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0D1B2A"/>
                </a:solidFill>
                <a:latin typeface="Aptos"/>
              </a:rPr>
              <a:t>Revocation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218688"/>
            <a:ext cx="169164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0">
                <a:solidFill>
                  <a:srgbClr val="212529"/>
                </a:solidFill>
                <a:latin typeface="Aptos"/>
              </a:rPr>
              <a:t>A prova deixa de valer e a lane muda de estado.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4112" y="2834640"/>
            <a:ext cx="4114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828800"/>
            <a:ext cx="2057400" cy="2651760"/>
          </a:xfrm>
          <a:prstGeom prst="roundRect">
            <a:avLst/>
          </a:prstGeom>
          <a:solidFill>
            <a:srgbClr val="EC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887968" y="2011680"/>
            <a:ext cx="502920" cy="502920"/>
          </a:xfrm>
          <a:prstGeom prst="ellipse">
            <a:avLst/>
          </a:prstGeom>
          <a:solidFill>
            <a:srgbClr val="B43848"/>
          </a:solidFill>
          <a:ln>
            <a:solidFill>
              <a:srgbClr val="B4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697480"/>
            <a:ext cx="1737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0D1B2A"/>
                </a:solidFill>
                <a:latin typeface="Aptos"/>
              </a:rPr>
              <a:t>Blocked lane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218688"/>
            <a:ext cx="169164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0">
                <a:solidFill>
                  <a:srgbClr val="212529"/>
                </a:solidFill>
                <a:latin typeface="Aptos"/>
              </a:rPr>
              <a:t>A consequência de bloqueio se torna verificável on-chain.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212080"/>
            <a:ext cx="1060704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Não é compliance em PDF. É uma decisão canônica produzindo consequência operacional em Stellar.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68096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Aptos Display"/>
              </a:rPr>
              <a:t>Boundary honesto e anti-overengineering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212080" cy="4251960"/>
          </a:xfrm>
          <a:prstGeom prst="roundRect">
            <a:avLst/>
          </a:prstGeom>
          <a:solidFill>
            <a:srgbClr val="EC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09360" y="1417320"/>
            <a:ext cx="5212080" cy="4251960"/>
          </a:xfrm>
          <a:prstGeom prst="roundRect">
            <a:avLst/>
          </a:prstGeom>
          <a:solidFill>
            <a:srgbClr val="F5F5F0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19072"/>
            <a:ext cx="4114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900" b="1">
                <a:solidFill>
                  <a:srgbClr val="1B4B84"/>
                </a:solidFill>
                <a:latin typeface="Aptos"/>
              </a:rPr>
              <a:t>O que podemos afirmar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4389120" cy="2423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212529"/>
                </a:solidFill>
                <a:latin typeface="Aptos"/>
              </a:rPr>
              <a:t>• Operamos a lane própria B-first
• Registry, admission, revoke e blocked-lane já foram provados
• Worker idempotente já existe
• A primitive já tem supporting evidence em DeFindex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664208"/>
            <a:ext cx="434340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B43848"/>
                </a:solidFill>
                <a:latin typeface="Aptos"/>
              </a:rPr>
              <a:t>O que não devemos
overclaimar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4389120" cy="21488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212529"/>
                </a:solidFill>
                <a:latin typeface="Aptos"/>
              </a:rPr>
              <a:t>• Não operamos a instância externa auditada
• O gap remanescente é governança, não integração básica
• O track ZK não é outro produto
• DeFindex não é a narrativa principal do Pulso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25603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A757F"/>
                </a:solidFill>
                <a:latin typeface="Aptos"/>
              </a:rPr>
              <a:t>DPO2U • Pulso • junho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6692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Aptos Display"/>
              </a:rPr>
              <a:t>As 3 vertentes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89920" cy="1051560"/>
          </a:xfrm>
          <a:prstGeom prst="roundRect">
            <a:avLst/>
          </a:prstGeom>
          <a:solidFill>
            <a:srgbClr val="ECF2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331720" cy="1051560"/>
          </a:xfrm>
          <a:prstGeom prst="roundRect">
            <a:avLst/>
          </a:prstGeom>
          <a:solidFill>
            <a:srgbClr val="247BA0"/>
          </a:solidFill>
          <a:ln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Pulso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517904"/>
            <a:ext cx="21945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0D1B2A"/>
                </a:solidFill>
                <a:latin typeface="Aptos"/>
              </a:rPr>
              <a:t>Fechar demo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1499616"/>
            <a:ext cx="544068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50" b="0">
                <a:solidFill>
                  <a:srgbClr val="212529"/>
                </a:solidFill>
                <a:latin typeface="Aptos"/>
              </a:rPr>
              <a:t>Registry-backed admission + revocation + blocked-lane na lane própria.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80360"/>
            <a:ext cx="10789920" cy="1051560"/>
          </a:xfrm>
          <a:prstGeom prst="roundRect">
            <a:avLst/>
          </a:prstGeom>
          <a:solidFill>
            <a:srgbClr val="F5F5F0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2331720" cy="1051560"/>
          </a:xfrm>
          <a:prstGeom prst="roundRect">
            <a:avLst/>
          </a:prstGeom>
          <a:solidFill>
            <a:srgbClr val="6DCBB0"/>
          </a:solidFill>
          <a:ln>
            <a:solidFill>
              <a:srgbClr val="6D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136391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Hackathon ZK Stellar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026664"/>
            <a:ext cx="21945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0D1B2A"/>
                </a:solidFill>
                <a:latin typeface="Aptos"/>
              </a:rPr>
              <a:t>Estender a primitive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3008376"/>
            <a:ext cx="544068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50" b="0">
                <a:solidFill>
                  <a:srgbClr val="212529"/>
                </a:solidFill>
                <a:latin typeface="Aptos"/>
              </a:rPr>
              <a:t>Privacidade/elegibilidade como aprofundamento da mesma tese, sem competir com o Pulso.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789920" cy="1051560"/>
          </a:xfrm>
          <a:prstGeom prst="roundRect">
            <a:avLst/>
          </a:prstGeom>
          <a:solidFill>
            <a:srgbClr val="ECF2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4389120"/>
            <a:ext cx="2331720" cy="1051560"/>
          </a:xfrm>
          <a:prstGeom prst="roundRect">
            <a:avLst/>
          </a:prstGeom>
          <a:solidFill>
            <a:srgbClr val="1B4B84"/>
          </a:solidFill>
          <a:ln>
            <a:solidFill>
              <a:srgbClr val="1B4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645152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GTM da solução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4535424"/>
            <a:ext cx="21945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0D1B2A"/>
                </a:solidFill>
                <a:latin typeface="Aptos"/>
              </a:rPr>
              <a:t>Empacotar para mercado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4517136"/>
            <a:ext cx="544068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50" b="0">
                <a:solidFill>
                  <a:srgbClr val="212529"/>
                </a:solidFill>
                <a:latin typeface="Aptos"/>
              </a:rPr>
              <a:t>Vender “compliance as infrastructure” com evidência real e boundary honesto.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25603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A757F"/>
                </a:solidFill>
                <a:latin typeface="Aptos"/>
              </a:rPr>
              <a:t>DPO2U • Pulso • junho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463040"/>
            <a:ext cx="10515600" cy="3566160"/>
          </a:xfrm>
          <a:prstGeom prst="roundRect">
            <a:avLst/>
          </a:prstGeom>
          <a:solidFill>
            <a:srgbClr val="12263A"/>
          </a:solidFill>
          <a:ln>
            <a:solidFill>
              <a:srgbClr val="12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960120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400" b="1">
                <a:solidFill>
                  <a:srgbClr val="6DCBB0"/>
                </a:solidFill>
                <a:latin typeface="Aptos"/>
              </a:rPr>
              <a:t>Mensagem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651760"/>
            <a:ext cx="9326880" cy="12801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A DPO2U já consegue provar em Stellar que uma decisão canônica de compliance pode produzir consequência operacional verificável. Pulso é a wedge demo. ZK é a extensão. GTM é a embalagem institucional.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5394960"/>
            <a:ext cx="7498079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0">
                <a:solidFill>
                  <a:srgbClr val="CDDCEB"/>
                </a:solidFill>
                <a:latin typeface="Aptos"/>
              </a:rPr>
              <a:t>Compliance as infrastructure — não compliance como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